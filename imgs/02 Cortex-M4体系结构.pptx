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91" r:id="rId3"/>
    <p:sldId id="290" r:id="rId4"/>
    <p:sldId id="292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25" r:id="rId35"/>
  </p:sldIdLst>
  <p:sldSz cx="9144000" cy="6858000" type="screen4x3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E79"/>
    <a:srgbClr val="4679A7"/>
    <a:srgbClr val="DBDDDF"/>
    <a:srgbClr val="E7E8EC"/>
    <a:srgbClr val="C4CBCF"/>
    <a:srgbClr val="E8E8EA"/>
    <a:srgbClr val="E7E8EB"/>
    <a:srgbClr val="DCE1E5"/>
    <a:srgbClr val="89A0B6"/>
    <a:srgbClr val="C9D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96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1488" y="108"/>
      </p:cViewPr>
      <p:guideLst>
        <p:guide orient="horz" pos="2160"/>
        <p:guide pos="38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78D93-B2F5-414C-8B16-0FE8599C9B0D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150F6-95C6-422D-8E88-741A4713EC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150F6-95C6-422D-8E88-741A4713EC0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548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057147" y="322258"/>
            <a:ext cx="4490357" cy="6086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>
                <a:solidFill>
                  <a:srgbClr val="1D4E79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dirty="0"/>
              <a:t>1.1 </a:t>
            </a:r>
            <a:r>
              <a:rPr lang="zh-CN" altLang="en-US" dirty="0"/>
              <a:t>单击此处输入标题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87845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单击此处输入正文内容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직사각형 45"/>
          <p:cNvSpPr/>
          <p:nvPr userDrawn="1"/>
        </p:nvSpPr>
        <p:spPr>
          <a:xfrm>
            <a:off x="1155691" y="926468"/>
            <a:ext cx="7987689" cy="87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265825" y="344810"/>
            <a:ext cx="700355" cy="715368"/>
            <a:chOff x="271835" y="158747"/>
            <a:chExt cx="694345" cy="986891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307407" y="179469"/>
              <a:ext cx="640351" cy="936517"/>
              <a:chOff x="307407" y="179469"/>
              <a:chExt cx="640351" cy="936517"/>
            </a:xfrm>
          </p:grpSpPr>
          <p:sp>
            <p:nvSpPr>
              <p:cNvPr id="11" name="菱形 10"/>
              <p:cNvSpPr/>
              <p:nvPr userDrawn="1"/>
            </p:nvSpPr>
            <p:spPr>
              <a:xfrm>
                <a:off x="307407" y="290088"/>
                <a:ext cx="540877" cy="721169"/>
              </a:xfrm>
              <a:prstGeom prst="diamond">
                <a:avLst/>
              </a:prstGeom>
              <a:solidFill>
                <a:srgbClr val="4679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1D4E79"/>
                  </a:solidFill>
                </a:endParaRPr>
              </a:p>
            </p:txBody>
          </p:sp>
          <p:sp>
            <p:nvSpPr>
              <p:cNvPr id="12" name="菱形 11"/>
              <p:cNvSpPr/>
              <p:nvPr userDrawn="1"/>
            </p:nvSpPr>
            <p:spPr>
              <a:xfrm>
                <a:off x="736287" y="179469"/>
                <a:ext cx="211471" cy="281961"/>
              </a:xfrm>
              <a:prstGeom prst="diamond">
                <a:avLst/>
              </a:prstGeom>
              <a:solidFill>
                <a:srgbClr val="C9D2D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菱形 12"/>
              <p:cNvSpPr/>
              <p:nvPr userDrawn="1"/>
            </p:nvSpPr>
            <p:spPr>
              <a:xfrm>
                <a:off x="719729" y="844284"/>
                <a:ext cx="203777" cy="271702"/>
              </a:xfrm>
              <a:prstGeom prst="diamond">
                <a:avLst/>
              </a:prstGeom>
              <a:solidFill>
                <a:schemeClr val="bg1"/>
              </a:solidFill>
              <a:ln>
                <a:solidFill>
                  <a:srgbClr val="DCE1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菱形 13"/>
            <p:cNvSpPr/>
            <p:nvPr userDrawn="1"/>
          </p:nvSpPr>
          <p:spPr>
            <a:xfrm>
              <a:off x="271835" y="246192"/>
              <a:ext cx="608793" cy="811724"/>
            </a:xfrm>
            <a:prstGeom prst="diamond">
              <a:avLst/>
            </a:prstGeom>
            <a:noFill/>
            <a:ln>
              <a:solidFill>
                <a:srgbClr val="4679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D4E79"/>
                </a:solidFill>
              </a:endParaRPr>
            </a:p>
          </p:txBody>
        </p:sp>
        <p:sp>
          <p:nvSpPr>
            <p:cNvPr id="15" name="菱形 14"/>
            <p:cNvSpPr/>
            <p:nvPr userDrawn="1"/>
          </p:nvSpPr>
          <p:spPr>
            <a:xfrm>
              <a:off x="718216" y="158747"/>
              <a:ext cx="247964" cy="330618"/>
            </a:xfrm>
            <a:prstGeom prst="diamond">
              <a:avLst/>
            </a:prstGeom>
            <a:noFill/>
            <a:ln>
              <a:solidFill>
                <a:srgbClr val="DBDD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菱形 15"/>
            <p:cNvSpPr/>
            <p:nvPr userDrawn="1"/>
          </p:nvSpPr>
          <p:spPr>
            <a:xfrm>
              <a:off x="693173" y="809341"/>
              <a:ext cx="252223" cy="336297"/>
            </a:xfrm>
            <a:prstGeom prst="diamond">
              <a:avLst/>
            </a:prstGeom>
            <a:noFill/>
            <a:ln>
              <a:solidFill>
                <a:srgbClr val="DCE1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548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BF6FB3-FE07-0EF9-B481-AF0E799C9E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75" y="180249"/>
            <a:ext cx="2160000" cy="652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6" y="0"/>
            <a:ext cx="9140447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6591142" y="2439292"/>
            <a:ext cx="816881" cy="17270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标题占位符 1"/>
          <p:cNvSpPr>
            <a:spLocks noGrp="1"/>
          </p:cNvSpPr>
          <p:nvPr>
            <p:ph type="title"/>
          </p:nvPr>
        </p:nvSpPr>
        <p:spPr>
          <a:xfrm>
            <a:off x="739218" y="2037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600"/>
            </a:lvl1pPr>
          </a:lstStyle>
          <a:p>
            <a:endParaRPr lang="zh-CN" altLang="en-US" sz="48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0433A9D-DFCD-C3A7-E392-EDD826A2EB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440" y="176623"/>
            <a:ext cx="3163166" cy="9558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548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045962"/>
            <a:ext cx="8229600" cy="166243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ea typeface="+mn-ea"/>
                <a:cs typeface="+mn-cs"/>
              </a:rPr>
              <a:t>嵌入式系统原理</a:t>
            </a:r>
            <a:br>
              <a:rPr lang="en-US" altLang="zh-CN" sz="4000" dirty="0">
                <a:ea typeface="+mn-ea"/>
                <a:cs typeface="+mn-cs"/>
              </a:rPr>
            </a:br>
            <a:r>
              <a:rPr lang="en-US" altLang="zh-CN" sz="4000" dirty="0">
                <a:ea typeface="+mn-ea"/>
                <a:cs typeface="+mn-cs"/>
              </a:rPr>
              <a:t>——Cortex-M4</a:t>
            </a:r>
            <a:r>
              <a:rPr lang="zh-CN" altLang="en-US" sz="4000" dirty="0">
                <a:ea typeface="+mn-ea"/>
                <a:cs typeface="+mn-cs"/>
              </a:rPr>
              <a:t>体系结构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一、内容回顾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8067" y="1176868"/>
            <a:ext cx="8094133" cy="5358874"/>
          </a:xfrm>
        </p:spPr>
        <p:txBody>
          <a:bodyPr/>
          <a:lstStyle/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 嵌入式系统定义</a:t>
            </a:r>
            <a:endParaRPr lang="en-US" altLang="zh-CN" dirty="0"/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 </a:t>
            </a:r>
            <a:r>
              <a:rPr lang="zh-CN" altLang="en-US" dirty="0"/>
              <a:t>嵌入式系统的软件、硬件组成（分层结构）</a:t>
            </a:r>
            <a:endParaRPr lang="en-US" altLang="zh-CN" dirty="0"/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 Cortex</a:t>
            </a:r>
            <a:r>
              <a:rPr lang="zh-CN" altLang="en-US" dirty="0"/>
              <a:t>系列处理器分类及各子系列特点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二、教学内容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18067" y="1176868"/>
            <a:ext cx="8094133" cy="5358874"/>
          </a:xfrm>
        </p:spPr>
        <p:txBody>
          <a:bodyPr/>
          <a:lstStyle/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 </a:t>
            </a:r>
            <a:r>
              <a:rPr lang="en-US" altLang="zh-CN" dirty="0"/>
              <a:t>Cortex-M4</a:t>
            </a:r>
            <a:r>
              <a:rPr lang="zh-CN" altLang="en-US" dirty="0"/>
              <a:t>内核结构</a:t>
            </a:r>
            <a:endParaRPr lang="en-US" altLang="zh-CN" dirty="0"/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/>
              <a:t> ARM</a:t>
            </a:r>
            <a:r>
              <a:rPr lang="zh-CN" altLang="en-US" sz="2400" dirty="0"/>
              <a:t>微处理器数据存储格式及工作状态</a:t>
            </a:r>
            <a:endParaRPr lang="en-US" altLang="zh-CN" sz="2400" dirty="0"/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/>
              <a:t> ARM</a:t>
            </a:r>
            <a:r>
              <a:rPr lang="zh-CN" altLang="en-US" sz="2400" dirty="0"/>
              <a:t>通用寄存器组</a:t>
            </a:r>
            <a:endParaRPr lang="en-US" altLang="zh-CN" sz="2400" dirty="0"/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/>
              <a:t> Cortex-M4</a:t>
            </a:r>
            <a:r>
              <a:rPr lang="zh-CN" altLang="en-US" sz="2400" dirty="0"/>
              <a:t>处理存储器映射</a:t>
            </a:r>
            <a:endParaRPr lang="en-US" altLang="zh-CN" sz="2400" dirty="0"/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/>
              <a:t> Cortex-M4</a:t>
            </a:r>
            <a:r>
              <a:rPr lang="zh-CN" altLang="en-US" sz="2400" dirty="0"/>
              <a:t>异常</a:t>
            </a:r>
            <a:endParaRPr lang="en-US" altLang="zh-CN" sz="2400" dirty="0"/>
          </a:p>
          <a:p>
            <a:pPr marL="0" indent="0">
              <a:lnSpc>
                <a:spcPct val="12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400" dirty="0"/>
              <a:t>重点：内核结构、工作状态、通用寄存器组</a:t>
            </a:r>
            <a:endParaRPr lang="en-US" altLang="zh-CN" sz="2400" dirty="0"/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400" dirty="0"/>
              <a:t>难点：通用寄存器组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三、教学目标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3400" y="1278467"/>
            <a:ext cx="8263467" cy="38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深入理解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内核结构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理解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存储器数据存储格式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深入理解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工作状态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掌握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通用寄存器组及特殊功能寄存器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理解浮点处理器寄存器组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初步认识中断和异常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ARM</a:t>
            </a:r>
            <a:r>
              <a:rPr lang="zh-CN" altLang="en-US" dirty="0"/>
              <a:t>体系结构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3400" y="1278467"/>
            <a:ext cx="8263467" cy="5361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体系结构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微处理器构成：内核、存储器、总线、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体系结构分类：冯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诺伊曼结构、哈佛结构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处理器属于哈佛结构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Cortex-M4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处理器构成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处理器核、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NVIC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SysTick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FPU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、跟踪调试接口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Cortex-M4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处理器高度可配置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部分功能可选（如：调试功能、中断数等）。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ARM</a:t>
            </a:r>
            <a:r>
              <a:rPr lang="zh-CN" altLang="en-US" dirty="0"/>
              <a:t>体系结构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1837"/>
            <a:ext cx="9143999" cy="5553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ARM</a:t>
            </a:r>
            <a:r>
              <a:rPr lang="zh-CN" altLang="en-US" dirty="0"/>
              <a:t>体系结构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3400" y="1278467"/>
            <a:ext cx="8263467" cy="405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由图可知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Cortex-M4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内核结构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内核采用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级流水线，包含寄存器区、存储器接口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内核包含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NVIC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SysTick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FPU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、指令跟踪接口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总线互联网络提供程序存储器总线接口、系统总线接口。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 注：图中粉色底纹为可选组件。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三级流水线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3400" y="1278467"/>
            <a:ext cx="8263467" cy="1760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Cortex-M4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内核采用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级流水线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指令执行过程：取指、译码、执行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三级流水线操作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" y="3287377"/>
            <a:ext cx="9115425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三级流水线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0266" y="1270000"/>
            <a:ext cx="8263467" cy="322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为兼容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Thumb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代码，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读取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（程序计数器）会返回当前指令地址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。偏移量总是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，不管是执行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位指令还是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位指令，这保证了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Thumb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Thumb-2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指令之间的一致性。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采用三级流水线，能有效提高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处理效率。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指令缓冲区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0266" y="1278467"/>
            <a:ext cx="8263467" cy="322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内核预取单元中有一个指令缓冲区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，它允许后续的指令在执行前先在里面排队，也能在执行未对齐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位指令时，避免流水线“断流”。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缓冲区不会在流水线中增加额外级数，因此不会恶化跳转导致的性能下降。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Cortex-M4</a:t>
            </a:r>
            <a:r>
              <a:rPr lang="zh-CN" altLang="en-US" dirty="0"/>
              <a:t>总线接口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2667" y="1278467"/>
            <a:ext cx="8111066" cy="4807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制定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AMBA(ARM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微控制器总线规范），其包括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AHB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APB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AXI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ASI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总线。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Cortex-M4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采用哈佛结构，为系统提供了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套总线，这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套总线可同时独立发起总线传输读写操作。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I-Code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总线：用于访问代码空间的指令。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D-Code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总线：用于访问代码空间的数据。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系统总线：访问其他系统空间，该总线是基于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AHB-Lite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总线协议的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位总线。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ARM</a:t>
            </a:r>
            <a:r>
              <a:rPr lang="zh-CN" altLang="en-US" dirty="0"/>
              <a:t>存储格式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03250" y="963930"/>
            <a:ext cx="8083550" cy="5384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大、小端数据格式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存储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0x12345678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小端：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大端：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</a:t>
            </a:r>
          </a:p>
        </p:txBody>
      </p:sp>
      <p:graphicFrame>
        <p:nvGraphicFramePr>
          <p:cNvPr id="5" name="表格 10"/>
          <p:cNvGraphicFramePr>
            <a:graphicFrameLocks noGrp="1"/>
          </p:cNvGraphicFramePr>
          <p:nvPr/>
        </p:nvGraphicFramePr>
        <p:xfrm>
          <a:off x="1115616" y="2819673"/>
          <a:ext cx="31683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0x12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0x34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0x56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0x78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3491880" y="3189593"/>
            <a:ext cx="0" cy="459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441111" y="3310877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低地址</a:t>
            </a:r>
          </a:p>
        </p:txBody>
      </p:sp>
      <p:graphicFrame>
        <p:nvGraphicFramePr>
          <p:cNvPr id="8" name="表格 10"/>
          <p:cNvGraphicFramePr>
            <a:graphicFrameLocks noGrp="1"/>
          </p:cNvGraphicFramePr>
          <p:nvPr/>
        </p:nvGraphicFramePr>
        <p:xfrm>
          <a:off x="1115616" y="4950327"/>
          <a:ext cx="31683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0x78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0x56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0x34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0x12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直接箭头连接符 8"/>
          <p:cNvCxnSpPr/>
          <p:nvPr/>
        </p:nvCxnSpPr>
        <p:spPr>
          <a:xfrm flipV="1">
            <a:off x="3490187" y="5314083"/>
            <a:ext cx="0" cy="459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470905" y="5421454"/>
            <a:ext cx="991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低地址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360" y="1475320"/>
            <a:ext cx="4143375" cy="21621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360" y="4148885"/>
            <a:ext cx="4124325" cy="219075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ARM</a:t>
            </a:r>
            <a:r>
              <a:rPr lang="zh-CN" altLang="en-US" dirty="0"/>
              <a:t>工作状态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03250" y="1057067"/>
            <a:ext cx="8083550" cy="5384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从编程角度看，工作状态分两种：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ARM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状态：处理器执行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位、字对齐的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ARM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指令集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Thumb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状态：执行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16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位、半字对齐的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Thumb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指令集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0" lvl="1" indent="0">
              <a:lnSpc>
                <a:spcPct val="130000"/>
              </a:lnSpc>
              <a:spcBef>
                <a:spcPts val="1000"/>
              </a:spcBef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0" lvl="1" indent="0" algn="just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  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Cortex-M4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支持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Thumb-2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指令集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，其兼容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ARM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与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Thumb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指令，当一次操作可以使用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位指令完成时就使用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位指令，以加快速度；当一次操作只需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16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位指令完成时，就使用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16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位指令，以节约存储空间。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ARM</a:t>
            </a:r>
            <a:r>
              <a:rPr lang="zh-CN" altLang="en-US" dirty="0"/>
              <a:t>运行模式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03250" y="1057067"/>
            <a:ext cx="8083550" cy="5384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Cortex-M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系列处理器有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7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种运行模式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用户模式（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usr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）：正常的程序执行状态。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快中断模式（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fiq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）：高速数据传输或通道处理。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外部中断模式（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irq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）：通用中断处理。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管理模式（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svc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）：操作系统使用的保护模式。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数据访问终止模式（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abt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）：取指终止时进入该模式，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用于虚拟存储及数据保护。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系统模式（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sys)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：运行具有特权的操作系统任务。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未定义指令中止模式（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und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）：使用错误指令时进入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Cortex-M4</a:t>
            </a:r>
            <a:r>
              <a:rPr lang="zh-CN" altLang="en-US" dirty="0"/>
              <a:t>通用寄存器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0" y="1094571"/>
            <a:ext cx="8097380" cy="5763429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Cortex-M4</a:t>
            </a:r>
            <a:r>
              <a:rPr lang="zh-CN" altLang="en-US" dirty="0"/>
              <a:t>通用寄存器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7267" y="1126066"/>
            <a:ext cx="8077200" cy="4515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Cortex-M4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处理器拥有通用寄存器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R0~R15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，以及一些特殊功能寄存器。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R0-R12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：通用目的。绝大多数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位指令只能访问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R0~R7;32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Thumb-2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指令可访问所有通用寄存器。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特殊功能寄存器有预定义（默认）功能，必须采用专用指令访问。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Cortex-M4</a:t>
            </a:r>
            <a:r>
              <a:rPr lang="zh-CN" altLang="en-US" dirty="0"/>
              <a:t>通用寄存器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7267" y="1126066"/>
            <a:ext cx="8077200" cy="5084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堆栈指针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R13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(SP)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两个堆栈指针，支持两堆栈。当引用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R13(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或写作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SP)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时，引用到的是当前正在使用的那一个，另一个必须使用特殊指令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(MRS/MSR)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进行访问。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主堆栈指针（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MSP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）：缺省堆栈指针，由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OS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内核、异常服务例程以及所有需要特权访问的应用程序代码使用。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进程堆栈指针（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PSP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）：用于常规应用程序代码（不在异常服务例程中时）。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Cortex-M4</a:t>
            </a:r>
            <a:r>
              <a:rPr lang="zh-CN" altLang="en-US" dirty="0"/>
              <a:t>通用寄存器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7267" y="1126066"/>
            <a:ext cx="8077200" cy="1760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连接寄存器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R14(LR)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编程时，可写作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R14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，用于调用子程序时存储返回地址。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1431" y="3182957"/>
            <a:ext cx="7963036" cy="29655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main		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主程序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...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BL func1		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调用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func1,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PC=func1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，将下一条指令的地址存储在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xxx	   	;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其他指令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....</a:t>
            </a: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func1:		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函数定义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...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BX  LR		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函数返回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注意：如果程序有嵌套或函数内容使用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，则必须先将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入栈，否则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func1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结构后将无法返回到调用时断点处，程序将跑飞。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Cortex-M4</a:t>
            </a:r>
            <a:r>
              <a:rPr lang="zh-CN" altLang="en-US" dirty="0"/>
              <a:t>通用寄存器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7267" y="1126066"/>
            <a:ext cx="8077200" cy="1760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程序计数器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R15(PC)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Cortex-M4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内核使用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级流水线，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时返回值为当前指令的地址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7267" y="3024366"/>
            <a:ext cx="807720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0x08000800:	MOV  R0, PC    ;R0 = 0x08000804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7267" y="3531901"/>
            <a:ext cx="8077200" cy="27988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注：若向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中写入数据，则会引起一次程序分支（但不更新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寄存器）。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CM4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至少为半字对齐，故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LSB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总是读回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。然而，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在分支时，无论是直接写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的值，还是使用分支指令，</a:t>
            </a:r>
            <a:r>
              <a:rPr lang="zh-CN" altLang="en-US" sz="240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都必须保证加载到</a:t>
            </a:r>
            <a:r>
              <a:rPr lang="en-US" altLang="zh-CN" sz="240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</a:t>
            </a:r>
            <a:r>
              <a:rPr lang="zh-CN" altLang="en-US" sz="240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的数值是奇数（即：</a:t>
            </a:r>
            <a:r>
              <a:rPr lang="en-US" altLang="zh-CN" sz="240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LSB=1</a:t>
            </a:r>
            <a:r>
              <a:rPr lang="zh-CN" altLang="en-US" sz="240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），用以表明这是在</a:t>
            </a:r>
            <a:r>
              <a:rPr lang="en-US" altLang="zh-CN" sz="240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Thumb</a:t>
            </a:r>
            <a:r>
              <a:rPr lang="zh-CN" altLang="en-US" sz="240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状态下执行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。若写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，则视为企图转入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模式，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CM4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将产生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fault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异常。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特殊功能寄存器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7267" y="1126066"/>
            <a:ext cx="8077200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Cortex-M4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特殊功能寄存器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908" y="5255842"/>
            <a:ext cx="8077200" cy="11137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注：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以上寄存器只能被专用指令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MSR/MRS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，而且它们之间没有与之相关联的访问地址。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08" y="1846591"/>
            <a:ext cx="8148184" cy="2707097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特殊功能寄存器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7267" y="1126066"/>
            <a:ext cx="8077200" cy="2960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程序状态寄存器（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xPSR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PSRs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其内部被划分为三个子状态寄存器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应用程序状态寄存器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APSR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中断状态寄存器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IPSR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执行状态寄存器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EPSR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33400" y="4409175"/>
            <a:ext cx="8077200" cy="16850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通过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MRS/MSR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指令，这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PSR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即可以单独访问，也可以组合访问（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个组合，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个组合都可以）。当使用三合一的方式访问时，应使用名字“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xPSR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”或者“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PSR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特殊功能寄存器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7267" y="1126066"/>
            <a:ext cx="8077200" cy="4530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程序状态寄存器（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xPSR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PSRs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应用程序状态寄存器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APSR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单独的程序状态寄存器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组合后的程序状态寄存器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99" y="2941463"/>
            <a:ext cx="7450402" cy="1701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99" y="5632534"/>
            <a:ext cx="7450402" cy="903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特殊功能寄存器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6033" y="1063859"/>
            <a:ext cx="8271933" cy="547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中断屏蔽寄存器组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PRIMASK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：仅有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个位的寄存器。置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，则关闭所有可屏蔽异常，只剩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NMI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Hard Fault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可以响应。缺省为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，表示未关中断。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FAULTMASK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：仅有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个位的寄存器。置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，只有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NMI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才能响应，其他所有异常均不响应。缺省为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，表示没有关异常。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BASEPRI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：该寄存器有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个位（由表达优先级的位数决定）。它决定了被屏蔽优先级的阈值。当被置为某值时，所有优先级号大于等于此值的中断都被关（优先级越大，优先级越低）。缺省为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，不关闭任何中断。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特殊功能寄存器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6033" y="1021524"/>
            <a:ext cx="8318500" cy="5753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控制寄存器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CONTROL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位定义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nPRIV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(bit0) : </a:t>
            </a:r>
          </a:p>
          <a:p>
            <a:pPr lvl="2">
              <a:lnSpc>
                <a:spcPct val="125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：特权级的线程模式；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：非特权级线程模式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2">
              <a:lnSpc>
                <a:spcPct val="125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注：处理模式永远是特权级。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SPSEL(bit1)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2">
              <a:lnSpc>
                <a:spcPct val="125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：选择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MSP; </a:t>
            </a:r>
          </a:p>
          <a:p>
            <a:pPr lvl="2">
              <a:lnSpc>
                <a:spcPct val="125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：选择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PSP</a:t>
            </a:r>
          </a:p>
          <a:p>
            <a:pPr lvl="2">
              <a:lnSpc>
                <a:spcPct val="125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注：在处理模式下，该位始终为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，即只允许使用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MSP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FPCA(bit2)</a:t>
            </a:r>
          </a:p>
          <a:p>
            <a:pPr lvl="2">
              <a:lnSpc>
                <a:spcPct val="125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：不激活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FPU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lvl="2">
              <a:lnSpc>
                <a:spcPct val="125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：激活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FPU</a:t>
            </a:r>
          </a:p>
          <a:p>
            <a:pPr lvl="2">
              <a:lnSpc>
                <a:spcPct val="125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注：执行浮点指令时，该位自动置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。异常时硬件清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特殊功能寄存器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6033" y="1021524"/>
            <a:ext cx="8318500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Cortex-M4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支持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个模式和两个权限等级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61" y="1978460"/>
            <a:ext cx="7649643" cy="201005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6682" y="4507381"/>
            <a:ext cx="8077200" cy="1667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当处理器处在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线程状态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下时，既可以使用特权级，也可以使用用户级；另一方面，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handler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模式总是特权级的。在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复位后，处理器进入线程模式＋特权级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特殊功能寄存器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2750" y="1072324"/>
            <a:ext cx="8318500" cy="4518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特权级下的代码可以置位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CONTROL[0]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来进入用户级，但用户级不能改回特权级。</a:t>
            </a: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不管任何原因产生异常，处理器都将以特权级来运行服务例程，异常返回后将回到产生异常之间的级别。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用户级下的代码，必须通过一个异常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Handler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来修改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CONTROL[0]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，才能在返回到线程模式后拿到特权级。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742" y="1800458"/>
            <a:ext cx="5742516" cy="430857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Cortex-M4</a:t>
            </a:r>
            <a:r>
              <a:rPr lang="zh-CN" altLang="en-US" dirty="0"/>
              <a:t>复位序列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8800" y="1126067"/>
            <a:ext cx="8144933" cy="3545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Cortex-M4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内核复位后，读取下列两个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位整数的值。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742950" lvl="1" indent="-285750" algn="just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0x00000000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地址处取出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MSP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的初始值，即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R13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的初始值。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742950" lvl="1" indent="-285750" algn="just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0x00000004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处取出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PC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初始值（该值为复位向量，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LSB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必须是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，以表明是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Thumb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状态）。然后从这个值所对应的地址处取值。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" t="5698"/>
          <a:stretch>
            <a:fillRect/>
          </a:stretch>
        </p:blipFill>
        <p:spPr bwMode="auto">
          <a:xfrm>
            <a:off x="696578" y="4996243"/>
            <a:ext cx="7750844" cy="11917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rgbClr val="808080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Cortex-M4</a:t>
            </a:r>
            <a:r>
              <a:rPr lang="zh-CN" altLang="en-US" dirty="0"/>
              <a:t>复位序列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8800" y="1126067"/>
            <a:ext cx="8144933" cy="2576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Cortex-M4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处理器中，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地址处提供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MSP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初值，然后是向量表（向量表可以迁移至其他地方）。向量表中的数值为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位地址，而不是跳转指令。向量表的第一个条目指向复位后应执行的第一条指令。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浮点寄存器组（略讲）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67267" y="1049679"/>
            <a:ext cx="8255000" cy="5431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algn="just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Cortex-M4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有一个可选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FPU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，为浮点处理提供了额外寄存器，以及浮点状态寄存器。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FPU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有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个存放单精度浮点数的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位寄存器，可合并为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16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位用于存储双精度浮点数的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位寄存器。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285750" lvl="1" indent="-285750" algn="just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S0~S31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个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位寄存器（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S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代表单精度），可通过浮点指令访问，或成对访问，即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D0~D15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D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代表双精度）。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285750" lvl="1" indent="-285750" algn="just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浮点状态控制寄存器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FPSCR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位，定义了浮点运算动作，并提供关于浮点运算结果的状态信息。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182" y="1245122"/>
            <a:ext cx="4367636" cy="5235852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协处理器访问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67267" y="1049679"/>
            <a:ext cx="8255000" cy="2147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algn="just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协处理器访问控制寄存器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CPACR</a:t>
            </a:r>
          </a:p>
          <a:p>
            <a:pPr marL="0" lvl="1" algn="just">
              <a:lnSpc>
                <a:spcPct val="130000"/>
              </a:lnSpc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该寄存器用于启用或禁用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FPU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。默认情况下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FPU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为禁止状态，以节省功耗。若要使用浮点运算指令，必须操作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CPACR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以开启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FPU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。寄存器如下：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8"/>
          <p:cNvGraphicFramePr>
            <a:graphicFrameLocks noGrp="1"/>
          </p:cNvGraphicFramePr>
          <p:nvPr/>
        </p:nvGraphicFramePr>
        <p:xfrm>
          <a:off x="986354" y="3316382"/>
          <a:ext cx="7416825" cy="1135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7781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31:24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23:22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21:20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19:0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CPACR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Reserved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CP11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CP10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Reserved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67267" y="4570751"/>
            <a:ext cx="8255000" cy="213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协处理器控制位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CP11/CP10: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：拒绝访问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01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：仅特权级访问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10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：保留（不可预测）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11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：完全访问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存储器映射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390" y="1015538"/>
            <a:ext cx="6049219" cy="5706271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Cortex-M4</a:t>
            </a:r>
            <a:r>
              <a:rPr lang="zh-CN" altLang="en-US" dirty="0"/>
              <a:t>异常来源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8973" y="5069369"/>
            <a:ext cx="8206809" cy="1689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Cortex-M4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支持多个系统异常和外部中断。编号为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1~15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是系统异常； 编号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以上为中断输入。大多数异常可配置优先级，少部分固定。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61" y="1004354"/>
            <a:ext cx="7211431" cy="3991532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Cortex-M4</a:t>
            </a:r>
            <a:r>
              <a:rPr lang="zh-CN" altLang="en-US" dirty="0"/>
              <a:t>异常来源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325" y="1251661"/>
            <a:ext cx="5632065" cy="501752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7755" y="1251661"/>
            <a:ext cx="2513114" cy="50130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Cortex-M4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支持多个系统异常和外部中断。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编号为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1~15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是系统异常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； </a:t>
            </a:r>
            <a:r>
              <a:rPr lang="zh-CN" altLang="en-US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编号</a:t>
            </a:r>
            <a:r>
              <a:rPr lang="en-US" altLang="zh-CN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以上为中断输入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。大多数异常可配置优先级，少部分固定。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7147" y="322258"/>
            <a:ext cx="4903386" cy="608614"/>
          </a:xfrm>
        </p:spPr>
        <p:txBody>
          <a:bodyPr>
            <a:normAutofit/>
          </a:bodyPr>
          <a:lstStyle/>
          <a:p>
            <a:r>
              <a:rPr lang="zh-CN" altLang="en-US" dirty="0"/>
              <a:t>小结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97417" y="1038265"/>
            <a:ext cx="8403590" cy="5819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buFont typeface="Wingdings" panose="05000000000000000000" charset="0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微软雅黑" panose="020B0503020204020204" charset="-122"/>
              </a:rPr>
              <a:t>ARM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微软雅黑" panose="020B0503020204020204" charset="-122"/>
              </a:rPr>
              <a:t>体系结构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微软雅黑" panose="020B0503020204020204" charset="-122"/>
              </a:rPr>
              <a:t>冯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微软雅黑" panose="020B0503020204020204" charset="-122"/>
              </a:rPr>
              <a:t>·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微软雅黑" panose="020B0503020204020204" charset="-122"/>
              </a:rPr>
              <a:t>诺伊曼结构、哈佛结构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微软雅黑" panose="020B0503020204020204" charset="-122"/>
              </a:rPr>
              <a:t>微处理器组成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微软雅黑" panose="020B0503020204020204" charset="-122"/>
            </a:endParaRPr>
          </a:p>
          <a:p>
            <a:pPr marL="0" lvl="1" indent="-285750">
              <a:lnSpc>
                <a:spcPct val="125000"/>
              </a:lnSpc>
              <a:spcBef>
                <a:spcPts val="1000"/>
              </a:spcBef>
              <a:buFont typeface="Wingdings" panose="05000000000000000000" charset="0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内核流水线及总线接口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三级流水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套总线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indent="-285750">
              <a:lnSpc>
                <a:spcPct val="125000"/>
              </a:lnSpc>
              <a:spcBef>
                <a:spcPts val="1000"/>
              </a:spcBef>
              <a:buFont typeface="Wingdings" panose="05000000000000000000" charset="0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存储格式、处理器工作状态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indent="-285750">
              <a:lnSpc>
                <a:spcPct val="125000"/>
              </a:lnSpc>
              <a:spcBef>
                <a:spcPts val="1000"/>
              </a:spcBef>
              <a:buFont typeface="Wingdings" panose="05000000000000000000" charset="0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通用寄存器组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(r0~r15)</a:t>
            </a:r>
          </a:p>
          <a:p>
            <a:pPr marL="0" lvl="1" indent="-285750">
              <a:lnSpc>
                <a:spcPct val="125000"/>
              </a:lnSpc>
              <a:spcBef>
                <a:spcPts val="1000"/>
              </a:spcBef>
              <a:buFont typeface="Wingdings" panose="05000000000000000000" charset="0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特殊功能寄存器组及浮点处理寄存器组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indent="-285750">
              <a:lnSpc>
                <a:spcPct val="125000"/>
              </a:lnSpc>
              <a:spcBef>
                <a:spcPts val="1000"/>
              </a:spcBef>
              <a:buFont typeface="Wingdings" panose="05000000000000000000" charset="0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内存映射及异常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简约淡色系教学课件答辩PPT模板"/>
  <p:tag name="ISPRING_FIRST_PUBLISH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tbtigdm">
      <a:majorFont>
        <a:latin typeface="字魂59号-创粗黑"/>
        <a:ea typeface="字魂59号-创粗黑"/>
        <a:cs typeface=""/>
      </a:majorFont>
      <a:minorFont>
        <a:latin typeface="字魂59号-创粗黑"/>
        <a:ea typeface="字魂59号-创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2177</Words>
  <Application>Microsoft Office PowerPoint</Application>
  <PresentationFormat>全屏显示(4:3)</PresentationFormat>
  <Paragraphs>239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等线</vt:lpstr>
      <vt:lpstr>宋体</vt:lpstr>
      <vt:lpstr>微软雅黑</vt:lpstr>
      <vt:lpstr>Arial</vt:lpstr>
      <vt:lpstr>Times New Roman</vt:lpstr>
      <vt:lpstr>Wingdings</vt:lpstr>
      <vt:lpstr>Office 主题​​</vt:lpstr>
      <vt:lpstr>嵌入式系统原理 ——Cortex-M4体系结构</vt:lpstr>
      <vt:lpstr>一、内容回顾</vt:lpstr>
      <vt:lpstr>二、教学内容</vt:lpstr>
      <vt:lpstr>三、教学目标</vt:lpstr>
      <vt:lpstr>ARM体系结构</vt:lpstr>
      <vt:lpstr>ARM体系结构</vt:lpstr>
      <vt:lpstr>ARM体系结构</vt:lpstr>
      <vt:lpstr>三级流水线</vt:lpstr>
      <vt:lpstr>三级流水线</vt:lpstr>
      <vt:lpstr>指令缓冲区</vt:lpstr>
      <vt:lpstr>Cortex-M4总线接口</vt:lpstr>
      <vt:lpstr>ARM存储格式</vt:lpstr>
      <vt:lpstr>ARM工作状态</vt:lpstr>
      <vt:lpstr>ARM运行模式</vt:lpstr>
      <vt:lpstr>Cortex-M4通用寄存器</vt:lpstr>
      <vt:lpstr>Cortex-M4通用寄存器</vt:lpstr>
      <vt:lpstr>Cortex-M4通用寄存器</vt:lpstr>
      <vt:lpstr>Cortex-M4通用寄存器</vt:lpstr>
      <vt:lpstr>Cortex-M4通用寄存器</vt:lpstr>
      <vt:lpstr>特殊功能寄存器</vt:lpstr>
      <vt:lpstr>特殊功能寄存器</vt:lpstr>
      <vt:lpstr>特殊功能寄存器</vt:lpstr>
      <vt:lpstr>特殊功能寄存器</vt:lpstr>
      <vt:lpstr>特殊功能寄存器</vt:lpstr>
      <vt:lpstr>特殊功能寄存器</vt:lpstr>
      <vt:lpstr>特殊功能寄存器</vt:lpstr>
      <vt:lpstr>Cortex-M4复位序列</vt:lpstr>
      <vt:lpstr>Cortex-M4复位序列</vt:lpstr>
      <vt:lpstr>浮点寄存器组（略讲）</vt:lpstr>
      <vt:lpstr>协处理器访问</vt:lpstr>
      <vt:lpstr>存储器映射</vt:lpstr>
      <vt:lpstr>Cortex-M4异常来源</vt:lpstr>
      <vt:lpstr>Cortex-M4异常来源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简约淡色</dc:title>
  <dc:creator>ljw</dc:creator>
  <cp:lastModifiedBy>Haifeng Chen</cp:lastModifiedBy>
  <cp:revision>274</cp:revision>
  <cp:lastPrinted>2025-08-30T11:59:00Z</cp:lastPrinted>
  <dcterms:created xsi:type="dcterms:W3CDTF">2018-06-23T18:08:00Z</dcterms:created>
  <dcterms:modified xsi:type="dcterms:W3CDTF">2026-01-07T05:24:05Z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8</vt:lpwstr>
  </property>
  <property fmtid="{D5CDD505-2E9C-101B-9397-08002B2CF9AE}" pid="3" name="KSOProductBuildVer">
    <vt:lpwstr>2052-12.1.0.23542</vt:lpwstr>
  </property>
  <property fmtid="{D5CDD505-2E9C-101B-9397-08002B2CF9AE}" pid="4" name="ICV">
    <vt:lpwstr>6FF2238C81D6403FB9DD1D6EA05CB951_12</vt:lpwstr>
  </property>
</Properties>
</file>